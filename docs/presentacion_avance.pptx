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/>
    <p:restoredTop sz="96711"/>
  </p:normalViewPr>
  <p:slideViewPr>
    <p:cSldViewPr snapToGrid="0" snapToObjects="1">
      <p:cViewPr varScale="1">
        <p:scale>
          <a:sx n="139" d="100"/>
          <a:sy n="139" d="100"/>
        </p:scale>
        <p:origin x="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5D8D9-DF0D-3648-BAF8-53356578AF31}" type="datetimeFigureOut">
              <a:rPr lang="es-EC" smtClean="0"/>
              <a:t>17/7/26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7362-61FB-9B42-AF9F-C34A227CAFB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6379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67362-61FB-9B42-AF9F-C34A227CAFBB}" type="slidenum">
              <a:rPr lang="es-EC" smtClean="0"/>
              <a:t>5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61312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DÓNDE ESTOY · Y QUÉ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>
                <a:solidFill>
                  <a:srgbClr val="1D3557"/>
                </a:solidFill>
                <a:latin typeface="Calibri"/>
              </a:rPr>
              <a:t>El terreno está listo; faltan las decisiones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188720" cy="381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9A9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2148840"/>
            <a:ext cx="4462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2A7F62"/>
                </a:solidFill>
                <a:latin typeface="Calibri"/>
              </a:rPr>
              <a:t>HECHO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903" y="2148840"/>
            <a:ext cx="5998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9A9A9A"/>
                </a:solidFill>
                <a:latin typeface="Calibri"/>
              </a:rPr>
              <a:t>PRÓXIMO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2514600"/>
            <a:ext cx="1389888" cy="1051560"/>
          </a:xfrm>
          <a:prstGeom prst="roundRect">
            <a:avLst/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 Fase 0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C9D6E2"/>
                </a:solidFill>
                <a:latin typeface="Calibri"/>
              </a:rPr>
              <a:t>Modelo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8519" y="2514600"/>
            <a:ext cx="1389888" cy="1051560"/>
          </a:xfrm>
          <a:prstGeom prst="roundRect">
            <a:avLst/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 Fase 1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C9D6E2"/>
                </a:solidFill>
                <a:latin typeface="Calibri"/>
              </a:rPr>
              <a:t>Simulador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4711" y="2514600"/>
            <a:ext cx="1389888" cy="1051560"/>
          </a:xfrm>
          <a:prstGeom prst="roundRect">
            <a:avLst/>
          </a:prstGeom>
          <a:solidFill>
            <a:srgbClr val="1D3557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 Fase 2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C9D6E2"/>
                </a:solidFill>
                <a:latin typeface="Calibri"/>
              </a:rPr>
              <a:t>Señales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903" y="2514600"/>
            <a:ext cx="138988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Calibri"/>
              </a:rPr>
              <a:t>Fase 3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Políticas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7095" y="2514600"/>
            <a:ext cx="138988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Calibri"/>
              </a:rPr>
              <a:t>Fase 4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Acciones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3287" y="2514600"/>
            <a:ext cx="138988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Calibri"/>
              </a:rPr>
              <a:t>Fase 5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Experimentos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9479" y="2514600"/>
            <a:ext cx="1389888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1D3557"/>
                </a:solidFill>
                <a:latin typeface="Calibri"/>
              </a:rPr>
              <a:t>Fase 6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515600" cy="11798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 err="1">
                <a:solidFill>
                  <a:srgbClr val="1D3557"/>
                </a:solidFill>
                <a:latin typeface="Calibri"/>
              </a:rPr>
              <a:t>Hecho</a:t>
            </a:r>
            <a:r>
              <a:rPr sz="1600" b="1" dirty="0">
                <a:solidFill>
                  <a:srgbClr val="1D3557"/>
                </a:solidFill>
                <a:latin typeface="Calibri"/>
              </a:rPr>
              <a:t> — </a:t>
            </a:r>
            <a:r>
              <a:rPr sz="1600" b="1" dirty="0" err="1">
                <a:solidFill>
                  <a:srgbClr val="1D3557"/>
                </a:solidFill>
                <a:latin typeface="Calibri"/>
              </a:rPr>
              <a:t>el</a:t>
            </a:r>
            <a:r>
              <a:rPr sz="1600" b="1" dirty="0">
                <a:solidFill>
                  <a:srgbClr val="1D355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D3557"/>
                </a:solidFill>
                <a:latin typeface="Calibri"/>
              </a:rPr>
              <a:t>terreno</a:t>
            </a:r>
            <a:r>
              <a:rPr sz="1600" b="1" dirty="0">
                <a:solidFill>
                  <a:srgbClr val="1D3557"/>
                </a:solidFill>
                <a:latin typeface="Calibri"/>
              </a:rPr>
              <a:t>.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 Un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modelo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crédito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real, un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simulador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genera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datos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mensuales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deterioro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controlado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, y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capa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señales</a:t>
            </a:r>
            <a:endParaRPr lang="en-US" sz="1600" dirty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600" b="1" dirty="0" err="1">
                <a:solidFill>
                  <a:srgbClr val="1D3557"/>
                </a:solidFill>
                <a:latin typeface="Calibri"/>
              </a:rPr>
              <a:t>Próximo</a:t>
            </a:r>
            <a:r>
              <a:rPr sz="1600" b="1" dirty="0">
                <a:solidFill>
                  <a:srgbClr val="1D3557"/>
                </a:solidFill>
                <a:latin typeface="Calibri"/>
              </a:rPr>
              <a:t> — las </a:t>
            </a:r>
            <a:r>
              <a:rPr sz="1600" b="1" dirty="0" err="1">
                <a:solidFill>
                  <a:srgbClr val="1D3557"/>
                </a:solidFill>
                <a:latin typeface="Calibri"/>
              </a:rPr>
              <a:t>decisiones</a:t>
            </a:r>
            <a:r>
              <a:rPr sz="1600" b="1" dirty="0">
                <a:solidFill>
                  <a:srgbClr val="1D3557"/>
                </a:solidFill>
                <a:latin typeface="Calibri"/>
              </a:rPr>
              <a:t>.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Construir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comparar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las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políticas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deciden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cuándo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cómo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intervenir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aún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no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implementadas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); luego las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acciones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correctivas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experimentos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interfaz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 para </a:t>
            </a:r>
            <a:r>
              <a:rPr sz="1600" b="0" dirty="0" err="1">
                <a:solidFill>
                  <a:srgbClr val="404040"/>
                </a:solidFill>
                <a:latin typeface="Calibri"/>
              </a:rPr>
              <a:t>visualizar</a:t>
            </a:r>
            <a:r>
              <a:rPr sz="1600" b="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LO QUE TENGO · UN LABORATORIO CONTROLADO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>
                <a:solidFill>
                  <a:srgbClr val="1D3557"/>
                </a:solidFill>
                <a:latin typeface="Calibri"/>
              </a:rPr>
              <a:t>Un modelo real que hacemos fallar a propósito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188720" cy="381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9A9A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936457"/>
            <a:ext cx="23317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D3557"/>
                </a:solidFill>
                <a:latin typeface="Calibri"/>
              </a:rPr>
              <a:t>MDT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datos reales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36975" y="2210777"/>
            <a:ext cx="329184" cy="20116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84448" y="1936457"/>
            <a:ext cx="23317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D3557"/>
                </a:solidFill>
                <a:latin typeface="Calibri"/>
              </a:rPr>
              <a:t>Modelo base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congelado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34455" y="2210777"/>
            <a:ext cx="329184" cy="20116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1927" y="1936457"/>
            <a:ext cx="2331720" cy="777240"/>
          </a:xfrm>
          <a:prstGeom prst="roundRect">
            <a:avLst/>
          </a:prstGeom>
          <a:solidFill>
            <a:srgbClr val="F1F4F8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D3557"/>
                </a:solidFill>
                <a:latin typeface="Calibri"/>
              </a:rPr>
              <a:t>Simulador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cortes mensuales + deterioro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31935" y="2210777"/>
            <a:ext cx="329184" cy="20116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79407" y="1936457"/>
            <a:ext cx="233172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>
                <a:solidFill>
                  <a:srgbClr val="1D3557"/>
                </a:solidFill>
                <a:latin typeface="Calibri"/>
              </a:rPr>
              <a:t>Señales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404040"/>
                </a:solidFill>
                <a:latin typeface="Calibri"/>
              </a:rPr>
              <a:t>sin la etiqueta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95993"/>
            <a:ext cx="10698480" cy="5950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dirty="0">
                <a:solidFill>
                  <a:srgbClr val="1D3557"/>
                </a:solidFill>
                <a:latin typeface="Calibri"/>
              </a:rPr>
              <a:t>MDT —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 5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cohortes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trimestrales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(2021-09 </a:t>
            </a:r>
            <a:r>
              <a:rPr lang="en-US" sz="1300" b="0" dirty="0">
                <a:solidFill>
                  <a:srgbClr val="404040"/>
                </a:solidFill>
                <a:latin typeface="Calibri"/>
              </a:rPr>
              <a:t>al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2022-09); la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etiqueta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bueno/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malo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se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conoce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los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12 meses.</a:t>
            </a:r>
          </a:p>
          <a:p>
            <a:pPr algn="l">
              <a:spcAft>
                <a:spcPts val="800"/>
              </a:spcAft>
            </a:pPr>
            <a:r>
              <a:rPr sz="1300" b="1" dirty="0" err="1">
                <a:solidFill>
                  <a:srgbClr val="1D3557"/>
                </a:solidFill>
                <a:latin typeface="Calibri"/>
              </a:rPr>
              <a:t>Simulación</a:t>
            </a:r>
            <a:r>
              <a:rPr sz="1300" b="1" dirty="0">
                <a:solidFill>
                  <a:srgbClr val="1D3557"/>
                </a:solidFill>
                <a:latin typeface="Calibri"/>
              </a:rPr>
              <a:t> —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 cortes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mensuales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desde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2022-10; 3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deterioros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en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distintos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tramos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sombreados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04040"/>
                </a:solidFill>
                <a:latin typeface="Calibri"/>
              </a:rPr>
              <a:t>abajo</a:t>
            </a:r>
            <a:r>
              <a:rPr sz="1300" b="0" dirty="0">
                <a:solidFill>
                  <a:srgbClr val="404040"/>
                </a:solidFill>
                <a:latin typeface="Calibri"/>
              </a:rPr>
              <a:t>).</a:t>
            </a:r>
          </a:p>
        </p:txBody>
      </p:sp>
      <p:pic>
        <p:nvPicPr>
          <p:cNvPr id="14" name="Picture 13" descr="modelo_en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436073"/>
            <a:ext cx="7772400" cy="2019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630633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C8861E"/>
                </a:solidFill>
                <a:latin typeface="Calibri"/>
              </a:rPr>
              <a:t>●  Covariate shift</a:t>
            </a:r>
            <a:r>
              <a:rPr sz="1200" b="0">
                <a:solidFill>
                  <a:srgbClr val="404040"/>
                </a:solidFill>
                <a:latin typeface="Calibri"/>
              </a:rPr>
              <a:t> — entran clientes más riesgosos; el modelo aún acierta.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2A7F62"/>
                </a:solidFill>
                <a:latin typeface="Calibri"/>
              </a:rPr>
              <a:t>●  Cambio de mezcla</a:t>
            </a:r>
            <a:r>
              <a:rPr sz="1200" b="0">
                <a:solidFill>
                  <a:srgbClr val="404040"/>
                </a:solidFill>
                <a:latin typeface="Calibri"/>
              </a:rPr>
              <a:t> — cambia la proporción de clientes buenos y malos.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B0302B"/>
                </a:solidFill>
                <a:latin typeface="Calibri"/>
              </a:rPr>
              <a:t>●  Concept drift</a:t>
            </a:r>
            <a:r>
              <a:rPr sz="1200" b="0">
                <a:solidFill>
                  <a:srgbClr val="404040"/>
                </a:solidFill>
                <a:latin typeface="Calibri"/>
              </a:rPr>
              <a:t> — cambia la relación perfil–comportamiento; el modelo empieza a equivocarse.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EL MODELO POR DENTRO · RESPALDO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>
                <a:solidFill>
                  <a:srgbClr val="1D3557"/>
                </a:solidFill>
                <a:latin typeface="Calibri"/>
              </a:rPr>
              <a:t>Detalle del modelo víctima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188720" cy="381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9A9A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06324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18872" rtlCol="0" anchor="ctr"/>
          <a:lstStyle/>
          <a:p>
            <a:pPr algn="ctr">
              <a:spcAft>
                <a:spcPts val="700"/>
              </a:spcAft>
            </a:pPr>
            <a:r>
              <a:rPr sz="1400" b="1" dirty="0">
                <a:solidFill>
                  <a:srgbClr val="1D3557"/>
                </a:solidFill>
                <a:latin typeface="Calibri"/>
              </a:rPr>
              <a:t>El </a:t>
            </a:r>
            <a:r>
              <a:rPr sz="1400" b="1" dirty="0" err="1">
                <a:solidFill>
                  <a:srgbClr val="1D3557"/>
                </a:solidFill>
                <a:latin typeface="Calibri"/>
              </a:rPr>
              <a:t>modelo</a:t>
            </a:r>
            <a:endParaRPr sz="1400" b="1" dirty="0">
              <a:solidFill>
                <a:srgbClr val="1D3557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lang="en-US" sz="1150" b="1" dirty="0">
                <a:solidFill>
                  <a:srgbClr val="1D3557"/>
                </a:solidFill>
                <a:latin typeface="Calibri"/>
              </a:rPr>
              <a:t>Familia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regresión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logística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L2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18 variables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de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buró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y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perfil</a:t>
            </a:r>
            <a:endParaRPr sz="1150" dirty="0">
              <a:solidFill>
                <a:srgbClr val="404040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Selección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híbrida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IV +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correlación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+ RFECV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Entrenado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en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 DEV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·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validado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out-of-time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874519"/>
            <a:ext cx="43434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D3557"/>
                </a:solidFill>
                <a:latin typeface="Calibri"/>
              </a:rPr>
              <a:t>Variables (5 grupos de riesgo)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Mora y saldos vencidos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Actividad crediticia</a:t>
            </a:r>
            <a:r>
              <a:rPr sz="1150">
                <a:solidFill>
                  <a:srgbClr val="404040"/>
                </a:solidFill>
                <a:latin typeface="Calibri"/>
              </a:rPr>
              <a:t> (operaciones, aperturas, refinanciamientos)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Calificación histórica del titular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Deuda total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Perfil</a:t>
            </a:r>
            <a:r>
              <a:rPr sz="1150">
                <a:solidFill>
                  <a:srgbClr val="404040"/>
                </a:solidFill>
                <a:latin typeface="Calibri"/>
              </a:rPr>
              <a:t> edad, ingresos, ahorro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74519"/>
            <a:ext cx="27432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59952" y="199339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D3557"/>
                </a:solidFill>
                <a:latin typeface="Calibri"/>
              </a:rPr>
              <a:t>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741664" y="2395728"/>
          <a:ext cx="2432304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T="18288" marB="18288" anchor="ctr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73152" marT="18288" marB="18288" anchor="ctr"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OOT</a:t>
                      </a:r>
                    </a:p>
                  </a:txBody>
                  <a:tcPr marL="73152" marT="18288" marB="18288" anchor="ctr"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3557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3557"/>
                          </a:solidFill>
                          <a:latin typeface="Calibri"/>
                        </a:rPr>
                        <a:t>Gini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3557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759952" y="3822191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2A7F62"/>
                </a:solidFill>
                <a:latin typeface="Calibri"/>
              </a:rPr>
              <a:t>PSI score DEV→OOT: 0.02</a:t>
            </a:r>
            <a:r>
              <a:rPr sz="1100" b="0">
                <a:solidFill>
                  <a:srgbClr val="404040"/>
                </a:solidFill>
                <a:latin typeface="Calibri"/>
              </a:rPr>
              <a:t>  (estable)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17720"/>
            <a:ext cx="10515600" cy="137160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3557"/>
                </a:solidFill>
                <a:latin typeface="Calibri"/>
              </a:rPr>
              <a:t>Qué altera el deterioro — y qué afecta al modelo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404040"/>
                </a:solidFill>
                <a:latin typeface="Calibri"/>
              </a:rPr>
              <a:t>El simulador mueve las variables de mora del buró (MAX_DVEN, saldo vencido, operaciones vencidas), de las más importantes del modelo.</a:t>
            </a:r>
          </a:p>
          <a:p>
            <a:r>
              <a:rPr sz="1250" b="1">
                <a:solidFill>
                  <a:srgbClr val="C8861E"/>
                </a:solidFill>
                <a:latin typeface="Calibri"/>
              </a:rPr>
              <a:t>→ Covariate shift</a:t>
            </a:r>
            <a:r>
              <a:rPr sz="1250">
                <a:solidFill>
                  <a:srgbClr val="404040"/>
                </a:solidFill>
                <a:latin typeface="Calibri"/>
              </a:rPr>
              <a:t> cambia esas entradas: el score se desplaza y se detecta.     </a:t>
            </a:r>
            <a:r>
              <a:rPr sz="1250" b="1">
                <a:solidFill>
                  <a:srgbClr val="B0302B"/>
                </a:solidFill>
                <a:latin typeface="Calibri"/>
              </a:rPr>
              <a:t>→ Concept drift</a:t>
            </a:r>
            <a:r>
              <a:rPr sz="1250">
                <a:solidFill>
                  <a:srgbClr val="404040"/>
                </a:solidFill>
                <a:latin typeface="Calibri"/>
              </a:rPr>
              <a:t> las deja intactas: es invisible.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FASE 2 · LO QUE EL AGENTE OBSERVA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D3557"/>
                </a:solidFill>
                <a:latin typeface="Calibri"/>
              </a:rPr>
              <a:t>Señales implementadas — y cómo se usarán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188720" cy="381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  <a:latin typeface="Calibri"/>
              </a:rPr>
              <a:t>Sin las etiquetas reales, cada mes el modelo produce un </a:t>
            </a:r>
            <a:r>
              <a:rPr sz="1300" b="1">
                <a:solidFill>
                  <a:srgbClr val="1D3557"/>
                </a:solidFill>
                <a:latin typeface="Calibri"/>
              </a:rPr>
              <a:t>reporte estructurado de señales</a:t>
            </a:r>
            <a:r>
              <a:rPr sz="1300" b="0">
                <a:solidFill>
                  <a:srgbClr val="404040"/>
                </a:solidFill>
                <a:latin typeface="Calibri"/>
              </a:rPr>
              <a:t> — el único insumo del agente.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5120640" cy="251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A7F62"/>
                </a:solidFill>
                <a:latin typeface="Calibri"/>
              </a:rPr>
              <a:t>Implementado ✓  ·  el reporte mensual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Drift del score</a:t>
            </a:r>
            <a:r>
              <a:rPr sz="1150">
                <a:solidFill>
                  <a:srgbClr val="404040"/>
                </a:solidFill>
                <a:latin typeface="Calibri"/>
              </a:rPr>
              <a:t> — PSI vs entrenamiento y vs el mes anterior.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Drift de variables</a:t>
            </a:r>
            <a:r>
              <a:rPr sz="1150">
                <a:solidFill>
                  <a:srgbClr val="404040"/>
                </a:solidFill>
                <a:latin typeface="Calibri"/>
              </a:rPr>
              <a:t> — PSI de 8 variables de riesgo (mora, deuda, ingresos…).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Desempeño tardío</a:t>
            </a:r>
            <a:r>
              <a:rPr sz="1150">
                <a:solidFill>
                  <a:srgbClr val="404040"/>
                </a:solidFill>
                <a:latin typeface="Calibri"/>
              </a:rPr>
              <a:t> — bad-rate, AUC y KS… pero recién a los 12 meses.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Memoria</a:t>
            </a:r>
            <a:r>
              <a:rPr sz="1150">
                <a:solidFill>
                  <a:srgbClr val="404040"/>
                </a:solidFill>
                <a:latin typeface="Calibri"/>
              </a:rPr>
              <a:t> — meses desde la última intervención.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3401568"/>
            <a:ext cx="274320" cy="256032"/>
          </a:xfrm>
          <a:prstGeom prst="rightArrow">
            <a:avLst/>
          </a:prstGeom>
          <a:solidFill>
            <a:srgbClr val="B9C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074920" cy="251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9A9A9A"/>
                </a:solidFill>
                <a:latin typeface="Calibri"/>
              </a:rPr>
              <a:t>Cómo se usarán  ·  Fases 3–4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Reglas</a:t>
            </a:r>
            <a:r>
              <a:rPr sz="1150">
                <a:solidFill>
                  <a:srgbClr val="404040"/>
                </a:solidFill>
                <a:latin typeface="Calibri"/>
              </a:rPr>
              <a:t> — umbral sobre una señal (baseline).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Multi-señal</a:t>
            </a:r>
            <a:r>
              <a:rPr sz="1150">
                <a:solidFill>
                  <a:srgbClr val="404040"/>
                </a:solidFill>
                <a:latin typeface="Calibri"/>
              </a:rPr>
              <a:t> — combina varias en un score de riesgo.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Router LLM</a:t>
            </a:r>
            <a:r>
              <a:rPr sz="1150">
                <a:solidFill>
                  <a:srgbClr val="404040"/>
                </a:solidFill>
                <a:latin typeface="Calibri"/>
              </a:rPr>
              <a:t> — razona sobre el reporte completo.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457B9D"/>
                </a:solidFill>
                <a:latin typeface="Calibri"/>
              </a:rPr>
              <a:t>→  cada política dispara una acción:
     esperar · fine-tune · reentrenar · reconstruir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10515600" cy="1051560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/>
            <a:r>
              <a:rPr sz="1400" b="1">
                <a:solidFill>
                  <a:srgbClr val="1D3557"/>
                </a:solidFill>
                <a:latin typeface="Calibri"/>
              </a:rPr>
              <a:t>El reto que revelan las señales:  </a:t>
            </a:r>
            <a:r>
              <a:rPr sz="1400">
                <a:solidFill>
                  <a:srgbClr val="404040"/>
                </a:solidFill>
                <a:latin typeface="Calibri"/>
              </a:rPr>
              <a:t>con </a:t>
            </a:r>
            <a:r>
              <a:rPr sz="1400" b="1">
                <a:solidFill>
                  <a:srgbClr val="B0302B"/>
                </a:solidFill>
                <a:latin typeface="Calibri"/>
              </a:rPr>
              <a:t>concept drift</a:t>
            </a:r>
            <a:r>
              <a:rPr sz="1400">
                <a:solidFill>
                  <a:srgbClr val="404040"/>
                </a:solidFill>
                <a:latin typeface="Calibri"/>
              </a:rPr>
              <a:t> las señales de distribución no se mueven — solo el desempeño tardío lo delata, 12 meses después.</a:t>
            </a:r>
          </a:p>
          <a:p>
            <a:pPr>
              <a:spcBef>
                <a:spcPts val="400"/>
              </a:spcBef>
            </a:pPr>
            <a:r>
              <a:rPr sz="1250" i="1">
                <a:solidFill>
                  <a:srgbClr val="457B9D"/>
                </a:solidFill>
                <a:latin typeface="Calibri"/>
              </a:rPr>
              <a:t>Decidir bien en ese hueco es, justamente, lo que deben resolver las políticas.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FASES 3–4 · POR IMPLEMENTAR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>
                <a:solidFill>
                  <a:srgbClr val="1D3557"/>
                </a:solidFill>
                <a:latin typeface="Calibri"/>
              </a:rPr>
              <a:t>Qué viene: políticas, acciones y el 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64208"/>
            <a:ext cx="1188720" cy="3810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9A9A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38328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18872" rtlCol="0" anchor="ctr"/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1D3557"/>
                </a:solidFill>
                <a:latin typeface="Calibri"/>
              </a:rPr>
              <a:t>Políticas — el cerebro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Reglas / umbral</a:t>
            </a:r>
            <a:r>
              <a:rPr sz="1150">
                <a:solidFill>
                  <a:srgbClr val="404040"/>
                </a:solidFill>
                <a:latin typeface="Calibri"/>
              </a:rPr>
              <a:t> — actúa si una señal cruza un umbral (baseline).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Multi-señal</a:t>
            </a:r>
            <a:r>
              <a:rPr sz="1150">
                <a:solidFill>
                  <a:srgbClr val="404040"/>
                </a:solidFill>
                <a:latin typeface="Calibri"/>
              </a:rPr>
              <a:t> — combina varias señales en un score de riesgo.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Router LLM</a:t>
            </a:r>
            <a:r>
              <a:rPr sz="1150">
                <a:solidFill>
                  <a:srgbClr val="404040"/>
                </a:solidFill>
                <a:latin typeface="Calibri"/>
              </a:rPr>
              <a:t> — razona sobre el reporte y elige la acción.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>
                <a:solidFill>
                  <a:srgbClr val="1D3557"/>
                </a:solidFill>
                <a:latin typeface="Calibri"/>
              </a:rPr>
              <a:t>Bandit</a:t>
            </a:r>
            <a:r>
              <a:rPr sz="1150">
                <a:solidFill>
                  <a:srgbClr val="404040"/>
                </a:solidFill>
                <a:latin typeface="Calibri"/>
              </a:rPr>
              <a:t> (opcional) — aprende de la experiencia.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74519"/>
            <a:ext cx="338328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18872" rtlCol="0" anchor="ctr"/>
          <a:lstStyle/>
          <a:p>
            <a:pPr algn="ctr">
              <a:spcAft>
                <a:spcPts val="700"/>
              </a:spcAft>
            </a:pPr>
            <a:r>
              <a:rPr sz="1400" b="1" dirty="0" err="1">
                <a:solidFill>
                  <a:srgbClr val="1D3557"/>
                </a:solidFill>
                <a:latin typeface="Calibri"/>
              </a:rPr>
              <a:t>Acciones</a:t>
            </a:r>
            <a:r>
              <a:rPr sz="1400" b="1" dirty="0">
                <a:solidFill>
                  <a:srgbClr val="1D3557"/>
                </a:solidFill>
                <a:latin typeface="Calibri"/>
              </a:rPr>
              <a:t> — la mano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Esperar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no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intervenir</a:t>
            </a:r>
            <a:r>
              <a:rPr sz="1150" dirty="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Fine-tune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re-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ajusta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solo la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logística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Reentrenar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re-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ajusta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con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datos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nuevos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(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ya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madurados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).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Reconstruir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rehace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el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modelo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completo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74519"/>
            <a:ext cx="338328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18872" rtlCol="0" anchor="ctr"/>
          <a:lstStyle/>
          <a:p>
            <a:pPr algn="ctr">
              <a:spcAft>
                <a:spcPts val="700"/>
              </a:spcAft>
            </a:pPr>
            <a:r>
              <a:rPr sz="1400" b="1" dirty="0">
                <a:solidFill>
                  <a:srgbClr val="1D3557"/>
                </a:solidFill>
                <a:latin typeface="Calibri"/>
              </a:rPr>
              <a:t>El </a:t>
            </a:r>
            <a:r>
              <a:rPr sz="1400" b="1" dirty="0" err="1">
                <a:solidFill>
                  <a:srgbClr val="1D3557"/>
                </a:solidFill>
                <a:latin typeface="Calibri"/>
              </a:rPr>
              <a:t>agente</a:t>
            </a:r>
            <a:endParaRPr sz="1400" b="1" dirty="0">
              <a:solidFill>
                <a:srgbClr val="1D3557"/>
              </a:solidFill>
              <a:latin typeface="Calibri"/>
            </a:endParaRP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Corre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el</a:t>
            </a:r>
            <a:r>
              <a:rPr sz="1150" b="1" dirty="0">
                <a:solidFill>
                  <a:srgbClr val="1D3557"/>
                </a:solidFill>
                <a:latin typeface="Calibri"/>
              </a:rPr>
              <a:t>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ciclo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cada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mes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: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observa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→ decide →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actúa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→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actualiza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lang="es-EC" sz="1150" b="1" dirty="0">
                <a:solidFill>
                  <a:srgbClr val="1D3557"/>
                </a:solidFill>
                <a:latin typeface="Calibri"/>
              </a:rPr>
              <a:t>Es uno solo</a:t>
            </a:r>
            <a:r>
              <a:rPr lang="es-EC" sz="1150" dirty="0">
                <a:solidFill>
                  <a:srgbClr val="404040"/>
                </a:solidFill>
              </a:rPr>
              <a:t> — lo que cambia, </a:t>
            </a:r>
            <a:r>
              <a:rPr lang="en-US" sz="1150" dirty="0">
                <a:solidFill>
                  <a:srgbClr val="404040"/>
                </a:solidFill>
              </a:rPr>
              <a:t>y se </a:t>
            </a:r>
            <a:r>
              <a:rPr lang="en-US" sz="1150" dirty="0" err="1">
                <a:solidFill>
                  <a:srgbClr val="404040"/>
                </a:solidFill>
              </a:rPr>
              <a:t>compara</a:t>
            </a:r>
            <a:r>
              <a:rPr lang="en-US" sz="1150" dirty="0">
                <a:solidFill>
                  <a:srgbClr val="404040"/>
                </a:solidFill>
              </a:rPr>
              <a:t> es </a:t>
            </a:r>
            <a:r>
              <a:rPr lang="en-US" sz="1150" dirty="0" err="1">
                <a:solidFill>
                  <a:srgbClr val="404040"/>
                </a:solidFill>
              </a:rPr>
              <a:t>su</a:t>
            </a:r>
            <a:r>
              <a:rPr lang="en-US" sz="1150" dirty="0">
                <a:solidFill>
                  <a:srgbClr val="404040"/>
                </a:solidFill>
              </a:rPr>
              <a:t> </a:t>
            </a:r>
            <a:r>
              <a:rPr lang="en-US" sz="1150" dirty="0" err="1">
                <a:solidFill>
                  <a:srgbClr val="404040"/>
                </a:solidFill>
              </a:rPr>
              <a:t>criterio</a:t>
            </a:r>
            <a:r>
              <a:rPr lang="en-US" sz="1150" dirty="0">
                <a:solidFill>
                  <a:srgbClr val="404040"/>
                </a:solidFill>
              </a:rPr>
              <a:t> de </a:t>
            </a:r>
            <a:r>
              <a:rPr lang="en-US" sz="1150" dirty="0" err="1">
                <a:solidFill>
                  <a:srgbClr val="404040"/>
                </a:solidFill>
              </a:rPr>
              <a:t>decisión</a:t>
            </a:r>
            <a:r>
              <a:rPr sz="1150" dirty="0">
                <a:solidFill>
                  <a:srgbClr val="404040"/>
                </a:solidFill>
                <a:latin typeface="Calibri"/>
              </a:rPr>
              <a:t>.</a:t>
            </a:r>
          </a:p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150" dirty="0">
                <a:solidFill>
                  <a:srgbClr val="457B9D"/>
                </a:solidFill>
                <a:latin typeface="Calibri"/>
              </a:rPr>
              <a:t>•  </a:t>
            </a:r>
            <a:r>
              <a:rPr sz="1150" b="1" dirty="0" err="1">
                <a:solidFill>
                  <a:srgbClr val="1D3557"/>
                </a:solidFill>
                <a:latin typeface="Calibri"/>
              </a:rPr>
              <a:t>Métrica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— ¿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intervino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a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tiempo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, sin falsas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alarmas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y al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menor</a:t>
            </a:r>
            <a:r>
              <a:rPr sz="1150" dirty="0">
                <a:solidFill>
                  <a:srgbClr val="404040"/>
                </a:solidFill>
                <a:latin typeface="Calibri"/>
              </a:rPr>
              <a:t> </a:t>
            </a:r>
            <a:r>
              <a:rPr sz="1150" dirty="0" err="1">
                <a:solidFill>
                  <a:srgbClr val="404040"/>
                </a:solidFill>
                <a:latin typeface="Calibri"/>
              </a:rPr>
              <a:t>costo</a:t>
            </a:r>
            <a:r>
              <a:rPr sz="1150" dirty="0">
                <a:solidFill>
                  <a:srgbClr val="404040"/>
                </a:solidFill>
                <a:latin typeface="Calibri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10515600" cy="960120"/>
          </a:xfrm>
          <a:prstGeom prst="round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ctr"/>
            <a:r>
              <a:rPr lang="en-US" sz="1500" b="1" dirty="0" err="1">
                <a:solidFill>
                  <a:srgbClr val="FFFFFF"/>
                </a:solidFill>
                <a:latin typeface="Calibri"/>
              </a:rPr>
              <a:t>C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omparar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política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interviene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mejor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dirty="0">
                <a:solidFill>
                  <a:srgbClr val="D8E0EA"/>
                </a:solidFill>
                <a:latin typeface="Calibri"/>
              </a:rPr>
              <a:t>bajo </a:t>
            </a:r>
            <a:r>
              <a:rPr sz="1500" dirty="0" err="1">
                <a:solidFill>
                  <a:srgbClr val="D8E0EA"/>
                </a:solidFill>
                <a:latin typeface="Calibri"/>
              </a:rPr>
              <a:t>señales</a:t>
            </a:r>
            <a:r>
              <a:rPr sz="1500" dirty="0">
                <a:solidFill>
                  <a:srgbClr val="D8E0E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D8E0EA"/>
                </a:solidFill>
                <a:latin typeface="Calibri"/>
              </a:rPr>
              <a:t>incompletas</a:t>
            </a:r>
            <a:r>
              <a:rPr sz="1500" dirty="0">
                <a:solidFill>
                  <a:srgbClr val="D8E0EA"/>
                </a:solidFill>
                <a:latin typeface="Calibri"/>
              </a:rPr>
              <a:t> y feedback </a:t>
            </a:r>
            <a:r>
              <a:rPr sz="1500" dirty="0" err="1">
                <a:solidFill>
                  <a:srgbClr val="D8E0EA"/>
                </a:solidFill>
                <a:latin typeface="Calibri"/>
              </a:rPr>
              <a:t>tardío</a:t>
            </a:r>
            <a:r>
              <a:rPr lang="en-US" sz="1500" dirty="0">
                <a:solidFill>
                  <a:srgbClr val="D8E0EA"/>
                </a:solidFill>
                <a:latin typeface="Calibri"/>
              </a:rPr>
              <a:t>.</a:t>
            </a:r>
            <a:endParaRPr sz="1500" dirty="0">
              <a:solidFill>
                <a:srgbClr val="D8E0E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752</Words>
  <Application>Microsoft Macintosh PowerPoint</Application>
  <PresentationFormat>Panorámica</PresentationFormat>
  <Paragraphs>102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Andrés Zúñiga Delgado</cp:lastModifiedBy>
  <cp:revision>5</cp:revision>
  <dcterms:created xsi:type="dcterms:W3CDTF">2013-01-27T09:14:16Z</dcterms:created>
  <dcterms:modified xsi:type="dcterms:W3CDTF">2026-07-17T22:38:01Z</dcterms:modified>
  <cp:category/>
</cp:coreProperties>
</file>